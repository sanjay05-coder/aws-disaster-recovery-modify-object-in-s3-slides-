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Klein Bold" charset="1" panose="02000503060000020004"/>
      <p:regular r:id="rId15"/>
    </p:embeddedFont>
    <p:embeddedFont>
      <p:font typeface="Helios" charset="1" panose="020B0504020202020204"/>
      <p:regular r:id="rId16"/>
    </p:embeddedFont>
    <p:embeddedFont>
      <p:font typeface="Helios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98521" y="1923928"/>
            <a:ext cx="10023512" cy="7690989"/>
            <a:chOff x="0" y="0"/>
            <a:chExt cx="13364683" cy="1025465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3364683" cy="727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99"/>
                </a:lnSpc>
              </a:pPr>
              <a:r>
                <a:rPr lang="en-US" sz="11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1</a:t>
              </a:r>
              <a:r>
                <a:rPr lang="en-US" sz="11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st</a:t>
              </a:r>
              <a:r>
                <a:rPr lang="en-US" sz="11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Case:</a:t>
              </a:r>
            </a:p>
            <a:p>
              <a:pPr algn="l">
                <a:lnSpc>
                  <a:spcPts val="14399"/>
                </a:lnSpc>
              </a:pPr>
              <a:r>
                <a:rPr lang="en-US" sz="11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Disaster Recovery S3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41909" y="9547050"/>
              <a:ext cx="10498974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NAME: Sanjay Rengasamy Thambu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3773114"/>
            <a:chOff x="0" y="0"/>
            <a:chExt cx="24384000" cy="503081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27933" r="0" b="41099"/>
            <a:stretch>
              <a:fillRect/>
            </a:stretch>
          </p:blipFill>
          <p:spPr>
            <a:xfrm flipH="false" flipV="false"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3773114"/>
            <a:ext cx="18288000" cy="6513886"/>
            <a:chOff x="0" y="0"/>
            <a:chExt cx="4816593" cy="17155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715591"/>
            </a:xfrm>
            <a:custGeom>
              <a:avLst/>
              <a:gdLst/>
              <a:ahLst/>
              <a:cxnLst/>
              <a:rect r="r" b="b" t="t" l="l"/>
              <a:pathLst>
                <a:path h="1715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035380" y="4645343"/>
          <a:ext cx="13978126" cy="4157105"/>
        </p:xfrm>
        <a:graphic>
          <a:graphicData uri="http://schemas.openxmlformats.org/drawingml/2006/table">
            <a:tbl>
              <a:tblPr/>
              <a:tblGrid>
                <a:gridCol w="5219898"/>
                <a:gridCol w="8758228"/>
              </a:tblGrid>
              <a:tr h="8276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Use Case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3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What we learn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4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Workflow Architecture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5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Screenshots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6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Explanations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7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639504" y="1391465"/>
            <a:ext cx="9008992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Agenda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333203" y="-1109791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8272" y="215303"/>
            <a:ext cx="9856393" cy="9856393"/>
            <a:chOff x="0" y="0"/>
            <a:chExt cx="13141858" cy="13141858"/>
          </a:xfrm>
        </p:grpSpPr>
        <p:sp>
          <p:nvSpPr>
            <p:cNvPr name="Freeform 3" id="3"/>
            <p:cNvSpPr/>
            <p:nvPr/>
          </p:nvSpPr>
          <p:spPr>
            <a:xfrm flipH="false" flipV="false"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r="r" b="b" t="t" l="l"/>
              <a:pathLst>
                <a:path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1122" y="1311122"/>
              <a:ext cx="10252025" cy="10252025"/>
            </a:xfrm>
            <a:custGeom>
              <a:avLst/>
              <a:gdLst/>
              <a:ahLst/>
              <a:cxnLst/>
              <a:rect r="r" b="b" t="t" l="l"/>
              <a:pathLst>
                <a:path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72291" y="1966426"/>
            <a:ext cx="6148356" cy="6354148"/>
            <a:chOff x="0" y="0"/>
            <a:chExt cx="6362700" cy="65756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6350013" cy="6562979"/>
            </a:xfrm>
            <a:custGeom>
              <a:avLst/>
              <a:gdLst/>
              <a:ahLst/>
              <a:cxnLst/>
              <a:rect r="r" b="b" t="t" l="l"/>
              <a:pathLst>
                <a:path h="6562979" w="6350013">
                  <a:moveTo>
                    <a:pt x="6350000" y="5480583"/>
                  </a:moveTo>
                  <a:cubicBezTo>
                    <a:pt x="6350000" y="6078372"/>
                    <a:pt x="5865419" y="6562979"/>
                    <a:pt x="5267617" y="6562979"/>
                  </a:cubicBezTo>
                  <a:lnTo>
                    <a:pt x="1082383" y="6562979"/>
                  </a:lnTo>
                  <a:cubicBezTo>
                    <a:pt x="484594" y="6562979"/>
                    <a:pt x="0" y="6078385"/>
                    <a:pt x="0" y="5480583"/>
                  </a:cubicBezTo>
                  <a:lnTo>
                    <a:pt x="0" y="1082383"/>
                  </a:lnTo>
                  <a:cubicBezTo>
                    <a:pt x="0" y="484594"/>
                    <a:pt x="484581" y="0"/>
                    <a:pt x="1082383" y="0"/>
                  </a:cubicBezTo>
                  <a:lnTo>
                    <a:pt x="5267630" y="0"/>
                  </a:lnTo>
                  <a:cubicBezTo>
                    <a:pt x="5865419" y="0"/>
                    <a:pt x="6350013" y="484594"/>
                    <a:pt x="6350013" y="1082383"/>
                  </a:cubicBezTo>
                  <a:lnTo>
                    <a:pt x="6350013" y="5480583"/>
                  </a:lnTo>
                  <a:close/>
                </a:path>
              </a:pathLst>
            </a:custGeom>
            <a:blipFill>
              <a:blip r:embed="rId4"/>
              <a:stretch>
                <a:fillRect l="-1676" t="0" r="-16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3381239"/>
            <a:ext cx="8115300" cy="2980570"/>
            <a:chOff x="0" y="0"/>
            <a:chExt cx="10820400" cy="397409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85725"/>
              <a:ext cx="10820400" cy="1668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36"/>
                </a:lnSpc>
              </a:pPr>
              <a:r>
                <a:rPr lang="en-US" b="true" sz="7797">
                  <a:gradFill>
                    <a:gsLst>
                      <a:gs pos="0">
                        <a:srgbClr val="FF3131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Klein Bold"/>
                  <a:ea typeface="Klein Bold"/>
                  <a:cs typeface="Klein Bold"/>
                  <a:sym typeface="Klein Bold"/>
                </a:rPr>
                <a:t>Use Case: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49374"/>
              <a:ext cx="9768880" cy="1624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0"/>
                </a:lnSpc>
              </a:pPr>
              <a:r>
                <a:rPr lang="en-US" sz="3564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Important file accidently got deleted by human errors. How to Recover?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50975" y="6974036"/>
            <a:ext cx="5108325" cy="1358812"/>
            <a:chOff x="0" y="0"/>
            <a:chExt cx="7572791" cy="20143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72791" cy="2014358"/>
            </a:xfrm>
            <a:custGeom>
              <a:avLst/>
              <a:gdLst/>
              <a:ahLst/>
              <a:cxnLst/>
              <a:rect r="r" b="b" t="t" l="l"/>
              <a:pathLst>
                <a:path h="2014358" w="7572791">
                  <a:moveTo>
                    <a:pt x="45466" y="0"/>
                  </a:moveTo>
                  <a:lnTo>
                    <a:pt x="7527325" y="0"/>
                  </a:lnTo>
                  <a:cubicBezTo>
                    <a:pt x="7552435" y="0"/>
                    <a:pt x="7572791" y="20356"/>
                    <a:pt x="7572791" y="45466"/>
                  </a:cubicBezTo>
                  <a:lnTo>
                    <a:pt x="7572791" y="1968892"/>
                  </a:lnTo>
                  <a:cubicBezTo>
                    <a:pt x="7572791" y="1994002"/>
                    <a:pt x="7552435" y="2014358"/>
                    <a:pt x="7527325" y="2014358"/>
                  </a:cubicBezTo>
                  <a:lnTo>
                    <a:pt x="45466" y="2014358"/>
                  </a:lnTo>
                  <a:cubicBezTo>
                    <a:pt x="20356" y="2014358"/>
                    <a:pt x="0" y="1994002"/>
                    <a:pt x="0" y="1968892"/>
                  </a:cubicBezTo>
                  <a:lnTo>
                    <a:pt x="0" y="45466"/>
                  </a:lnTo>
                  <a:cubicBezTo>
                    <a:pt x="0" y="20356"/>
                    <a:pt x="20356" y="0"/>
                    <a:pt x="45466" y="0"/>
                  </a:cubicBezTo>
                  <a:close/>
                </a:path>
              </a:pathLst>
            </a:custGeom>
            <a:solidFill>
              <a:srgbClr val="F4F4F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572791" cy="20524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Drag and drop your photo or video! Click the sample photo or video and delete. Select yours from the uploads tab, drag, and then drop inside the frame!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51963" y="333246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51963" y="4995789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725181" y="5446065"/>
            <a:ext cx="6875000" cy="1877167"/>
            <a:chOff x="0" y="0"/>
            <a:chExt cx="9166667" cy="250289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9166667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B44536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AWS Durability Concepts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05068"/>
              <a:ext cx="9166667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Du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rability means how reliably AWS stores your data without loss.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9411059" cy="10287000"/>
            <a:chOff x="0" y="0"/>
            <a:chExt cx="247863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78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9546" y="3462500"/>
            <a:ext cx="7631968" cy="2509288"/>
            <a:chOff x="0" y="0"/>
            <a:chExt cx="10175957" cy="334571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0175957" cy="3421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93"/>
                </a:lnSpc>
              </a:pPr>
              <a:r>
                <a:rPr lang="en-US" b="true" sz="7918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Klein Bold"/>
                  <a:ea typeface="Klein Bold"/>
                  <a:cs typeface="Klein Bold"/>
                  <a:sym typeface="Klein Bold"/>
                </a:rPr>
                <a:t>What we Learn ?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4939" y="1778286"/>
              <a:ext cx="705840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51080" y="230860"/>
            <a:ext cx="6542082" cy="2334367"/>
            <a:chOff x="0" y="0"/>
            <a:chExt cx="8722776" cy="311249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8141739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B44536"/>
                  </a:solidFill>
                  <a:latin typeface="Klein Bold"/>
                  <a:ea typeface="Klein Bold"/>
                  <a:cs typeface="Klein Bold"/>
                  <a:sym typeface="Klein Bold"/>
                </a:rPr>
                <a:t>What is DR?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5068"/>
              <a:ext cx="8722776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isaster Recovery (DR) is the process of restoring systems and data after a failure or disaster.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25181" y="2997398"/>
            <a:ext cx="6667981" cy="1877167"/>
            <a:chOff x="0" y="0"/>
            <a:chExt cx="8890642" cy="250289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8890642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B44536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 Protection Basics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5068"/>
              <a:ext cx="8890642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Da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ta protection ensures data is secure, available, and recoverable.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1080" y="7895483"/>
            <a:ext cx="6408220" cy="2448560"/>
            <a:chOff x="0" y="0"/>
            <a:chExt cx="8544294" cy="326474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0"/>
              <a:ext cx="8544294" cy="152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B44536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Shared responsibility model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457325"/>
              <a:ext cx="8544294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WS and the customer share security and responsibility. AWS + Customer both have roles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409" y="-377016"/>
            <a:ext cx="15300897" cy="3019272"/>
          </a:xfrm>
          <a:custGeom>
            <a:avLst/>
            <a:gdLst/>
            <a:ahLst/>
            <a:cxnLst/>
            <a:rect r="r" b="b" t="t" l="l"/>
            <a:pathLst>
              <a:path h="3019272" w="15300897">
                <a:moveTo>
                  <a:pt x="0" y="0"/>
                </a:moveTo>
                <a:lnTo>
                  <a:pt x="15300898" y="0"/>
                </a:lnTo>
                <a:lnTo>
                  <a:pt x="15300898" y="3019272"/>
                </a:lnTo>
                <a:lnTo>
                  <a:pt x="0" y="3019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8297" y="2786116"/>
            <a:ext cx="13878090" cy="7096944"/>
          </a:xfrm>
          <a:custGeom>
            <a:avLst/>
            <a:gdLst/>
            <a:ahLst/>
            <a:cxnLst/>
            <a:rect r="r" b="b" t="t" l="l"/>
            <a:pathLst>
              <a:path h="7096944" w="13878090">
                <a:moveTo>
                  <a:pt x="0" y="0"/>
                </a:moveTo>
                <a:lnTo>
                  <a:pt x="13878089" y="0"/>
                </a:lnTo>
                <a:lnTo>
                  <a:pt x="13878089" y="7096944"/>
                </a:lnTo>
                <a:lnTo>
                  <a:pt x="0" y="7096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407" r="0" b="-274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5765" y="429238"/>
            <a:ext cx="12063594" cy="1789453"/>
            <a:chOff x="0" y="0"/>
            <a:chExt cx="16084792" cy="238593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6084792" cy="1494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WorkFlow Architecture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78335"/>
              <a:ext cx="14521681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5733" y="4300776"/>
            <a:ext cx="15516533" cy="149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1"/>
              </a:lnSpc>
              <a:spcBef>
                <a:spcPct val="0"/>
              </a:spcBef>
            </a:pPr>
            <a:r>
              <a:rPr lang="en-US" b="true" sz="8522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Helios Bold"/>
                <a:ea typeface="Helios Bold"/>
                <a:cs typeface="Helios Bold"/>
                <a:sym typeface="Helios Bold"/>
              </a:rPr>
              <a:t>Demo S3 Bucket Screenshots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66931" cy="3771898"/>
          </a:xfrm>
          <a:custGeom>
            <a:avLst/>
            <a:gdLst/>
            <a:ahLst/>
            <a:cxnLst/>
            <a:rect r="r" b="b" t="t" l="l"/>
            <a:pathLst>
              <a:path h="3771898" w="8166931">
                <a:moveTo>
                  <a:pt x="0" y="0"/>
                </a:moveTo>
                <a:lnTo>
                  <a:pt x="8166931" y="0"/>
                </a:lnTo>
                <a:lnTo>
                  <a:pt x="8166931" y="3771898"/>
                </a:lnTo>
                <a:lnTo>
                  <a:pt x="0" y="377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9" t="-2581" r="0" b="-25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0008" y="-126214"/>
            <a:ext cx="8057992" cy="4021314"/>
          </a:xfrm>
          <a:custGeom>
            <a:avLst/>
            <a:gdLst/>
            <a:ahLst/>
            <a:cxnLst/>
            <a:rect r="r" b="b" t="t" l="l"/>
            <a:pathLst>
              <a:path h="4021314" w="8057992">
                <a:moveTo>
                  <a:pt x="0" y="0"/>
                </a:moveTo>
                <a:lnTo>
                  <a:pt x="8057992" y="0"/>
                </a:lnTo>
                <a:lnTo>
                  <a:pt x="8057992" y="4021315"/>
                </a:lnTo>
                <a:lnTo>
                  <a:pt x="0" y="4021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68" t="-6484" r="-506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143500"/>
            <a:ext cx="8368780" cy="4610031"/>
          </a:xfrm>
          <a:custGeom>
            <a:avLst/>
            <a:gdLst/>
            <a:ahLst/>
            <a:cxnLst/>
            <a:rect r="r" b="b" t="t" l="l"/>
            <a:pathLst>
              <a:path h="4610031" w="8368780">
                <a:moveTo>
                  <a:pt x="0" y="0"/>
                </a:moveTo>
                <a:lnTo>
                  <a:pt x="8368780" y="0"/>
                </a:lnTo>
                <a:lnTo>
                  <a:pt x="8368780" y="4610031"/>
                </a:lnTo>
                <a:lnTo>
                  <a:pt x="0" y="4610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16" t="-158" r="0" b="-1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25593" y="5926864"/>
            <a:ext cx="6210820" cy="1521651"/>
          </a:xfrm>
          <a:custGeom>
            <a:avLst/>
            <a:gdLst/>
            <a:ahLst/>
            <a:cxnLst/>
            <a:rect r="r" b="b" t="t" l="l"/>
            <a:pathLst>
              <a:path h="1521651" w="6210820">
                <a:moveTo>
                  <a:pt x="0" y="0"/>
                </a:moveTo>
                <a:lnTo>
                  <a:pt x="6210821" y="0"/>
                </a:lnTo>
                <a:lnTo>
                  <a:pt x="6210821" y="1521651"/>
                </a:lnTo>
                <a:lnTo>
                  <a:pt x="0" y="1521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00259" y="8580779"/>
            <a:ext cx="7007408" cy="1278852"/>
          </a:xfrm>
          <a:custGeom>
            <a:avLst/>
            <a:gdLst/>
            <a:ahLst/>
            <a:cxnLst/>
            <a:rect r="r" b="b" t="t" l="l"/>
            <a:pathLst>
              <a:path h="1278852" w="7007408">
                <a:moveTo>
                  <a:pt x="0" y="0"/>
                </a:moveTo>
                <a:lnTo>
                  <a:pt x="7007408" y="0"/>
                </a:lnTo>
                <a:lnTo>
                  <a:pt x="7007408" y="1278852"/>
                </a:lnTo>
                <a:lnTo>
                  <a:pt x="0" y="1278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88100" y="7751469"/>
            <a:ext cx="64361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914D"/>
                </a:solidFill>
                <a:latin typeface="Helios Bold"/>
                <a:ea typeface="Helios Bold"/>
                <a:cs typeface="Helios Bold"/>
                <a:sym typeface="Helios Bold"/>
              </a:rPr>
              <a:t>3) ii) Demo.txt-Modified Version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30008" y="5202329"/>
            <a:ext cx="64361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751F"/>
                </a:solidFill>
                <a:latin typeface="Helios Bold"/>
                <a:ea typeface="Helios Bold"/>
                <a:cs typeface="Helios Bold"/>
                <a:sym typeface="Helios Bold"/>
              </a:rPr>
              <a:t>3)  i) Demo.txt-Original Version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02200" y="3705223"/>
            <a:ext cx="64361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Helios Bold"/>
                <a:ea typeface="Helios Bold"/>
                <a:cs typeface="Helios Bold"/>
                <a:sym typeface="Helios Bold"/>
              </a:rPr>
              <a:t>2) Enabling Versioning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660083" y="4864735"/>
            <a:ext cx="64361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BF63"/>
                </a:solidFill>
                <a:latin typeface="Helios Bold"/>
                <a:ea typeface="Helios Bold"/>
                <a:cs typeface="Helios Bold"/>
                <a:sym typeface="Helios Bold"/>
              </a:rPr>
              <a:t>4) Recovering The deleted file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06067" y="3828426"/>
            <a:ext cx="6436155" cy="52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BF63"/>
                </a:solidFill>
                <a:latin typeface="Helios Bold"/>
                <a:ea typeface="Helios Bold"/>
                <a:cs typeface="Helios Bold"/>
                <a:sym typeface="Helios Bold"/>
              </a:rPr>
              <a:t>1) Created Bucket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2860" y="630257"/>
            <a:ext cx="15280491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Ve</a:t>
            </a: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rsioning, Disaster Recovery, Delete vs Permanent Delete</a:t>
            </a:r>
          </a:p>
        </p:txBody>
      </p:sp>
      <p:sp>
        <p:nvSpPr>
          <p:cNvPr name="AutoShape 3" id="3"/>
          <p:cNvSpPr/>
          <p:nvPr/>
        </p:nvSpPr>
        <p:spPr>
          <a:xfrm>
            <a:off x="4231936" y="5162550"/>
            <a:ext cx="1586999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57029" y="6065369"/>
            <a:ext cx="3874907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Ve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rsioning is a feature that keeps multiple versions of an object instead of overwriting or losing it.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70488" y="5608169"/>
            <a:ext cx="3874907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Ve</a:t>
            </a:r>
            <a:r>
              <a:rPr lang="en-US" b="true" sz="2599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rsioning protects against:</a:t>
            </a:r>
          </a:p>
          <a:p>
            <a:pPr algn="ctr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Accidental deletion</a:t>
            </a:r>
          </a:p>
          <a:p>
            <a:pPr algn="ctr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Overwrites</a:t>
            </a:r>
          </a:p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Note: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Also can restore an older and cleaner version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8350501" y="5162550"/>
            <a:ext cx="1586999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625938" y="5685656"/>
            <a:ext cx="3806506" cy="314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8"/>
              </a:lnSpc>
              <a:spcBef>
                <a:spcPct val="0"/>
              </a:spcBef>
            </a:pPr>
            <a:r>
              <a:rPr lang="en-US" b="true" sz="1977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Dele</a:t>
            </a:r>
            <a:r>
              <a:rPr lang="en-US" b="true" sz="1977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te </a:t>
            </a:r>
          </a:p>
          <a:p>
            <a:pPr algn="ctr" marL="426986" indent="-213493" lvl="1">
              <a:lnSpc>
                <a:spcPts val="2768"/>
              </a:lnSpc>
              <a:spcBef>
                <a:spcPct val="0"/>
              </a:spcBef>
              <a:buFont typeface="Arial"/>
              <a:buChar char="•"/>
            </a:pPr>
            <a:r>
              <a:rPr lang="en-US" sz="1977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Adds a delete marker</a:t>
            </a:r>
          </a:p>
          <a:p>
            <a:pPr algn="ctr" marL="426986" indent="-213493" lvl="1">
              <a:lnSpc>
                <a:spcPts val="2768"/>
              </a:lnSpc>
              <a:buFont typeface="Arial"/>
              <a:buChar char="•"/>
            </a:pPr>
            <a:r>
              <a:rPr lang="en-US" sz="1977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Recoverable</a:t>
            </a:r>
          </a:p>
          <a:p>
            <a:pPr algn="ctr">
              <a:lnSpc>
                <a:spcPts val="2768"/>
              </a:lnSpc>
              <a:spcBef>
                <a:spcPct val="0"/>
              </a:spcBef>
            </a:pPr>
          </a:p>
          <a:p>
            <a:pPr algn="ctr">
              <a:lnSpc>
                <a:spcPts val="2768"/>
              </a:lnSpc>
              <a:spcBef>
                <a:spcPct val="0"/>
              </a:spcBef>
            </a:pPr>
            <a:r>
              <a:rPr lang="en-US" b="true" sz="1977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Permanent Delete</a:t>
            </a:r>
          </a:p>
          <a:p>
            <a:pPr algn="ctr">
              <a:lnSpc>
                <a:spcPts val="2768"/>
              </a:lnSpc>
              <a:spcBef>
                <a:spcPct val="0"/>
              </a:spcBef>
            </a:pPr>
          </a:p>
          <a:p>
            <a:pPr algn="ctr" marL="426986" indent="-213493" lvl="1">
              <a:lnSpc>
                <a:spcPts val="2768"/>
              </a:lnSpc>
              <a:spcBef>
                <a:spcPct val="0"/>
              </a:spcBef>
              <a:buFont typeface="Arial"/>
              <a:buChar char="•"/>
            </a:pPr>
            <a:r>
              <a:rPr lang="en-US" sz="1977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Data is removed completely</a:t>
            </a:r>
          </a:p>
          <a:p>
            <a:pPr algn="ctr" marL="426986" indent="-213493" lvl="1">
              <a:lnSpc>
                <a:spcPts val="2768"/>
              </a:lnSpc>
              <a:spcBef>
                <a:spcPct val="0"/>
              </a:spcBef>
              <a:buFont typeface="Arial"/>
              <a:buChar char="•"/>
            </a:pPr>
            <a:r>
              <a:rPr lang="en-US" sz="1977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Not recoverable</a:t>
            </a:r>
          </a:p>
          <a:p>
            <a:pPr algn="ctr" marL="0" indent="0" lvl="0">
              <a:lnSpc>
                <a:spcPts val="2768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>
            <a:off x="12469065" y="5162550"/>
            <a:ext cx="1586999" cy="0"/>
          </a:xfrm>
          <a:prstGeom prst="line">
            <a:avLst/>
          </a:prstGeom>
          <a:ln cap="flat" w="38100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13905" y="5390217"/>
            <a:ext cx="4806807" cy="376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4"/>
              </a:lnSpc>
            </a:pPr>
          </a:p>
          <a:p>
            <a:pPr algn="ctr">
              <a:lnSpc>
                <a:spcPts val="2724"/>
              </a:lnSpc>
            </a:pPr>
            <a:r>
              <a:rPr lang="en-US" sz="1946" b="tru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AWS Responsibility </a:t>
            </a:r>
          </a:p>
          <a:p>
            <a:pPr algn="ctr">
              <a:lnSpc>
                <a:spcPts val="2724"/>
              </a:lnSpc>
            </a:pPr>
          </a:p>
          <a:p>
            <a:pPr algn="ctr" marL="420198" indent="-210099" lvl="1">
              <a:lnSpc>
                <a:spcPts val="2724"/>
              </a:lnSpc>
              <a:buFont typeface="Arial"/>
              <a:buChar char="•"/>
            </a:pPr>
            <a:r>
              <a:rPr lang="en-US" sz="19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Physical data centers</a:t>
            </a:r>
          </a:p>
          <a:p>
            <a:pPr algn="ctr" marL="420198" indent="-210099" lvl="1">
              <a:lnSpc>
                <a:spcPts val="2724"/>
              </a:lnSpc>
              <a:buFont typeface="Arial"/>
              <a:buChar char="•"/>
            </a:pPr>
            <a:r>
              <a:rPr lang="en-US" sz="19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Hardware, servers, storage</a:t>
            </a:r>
          </a:p>
          <a:p>
            <a:pPr algn="ctr">
              <a:lnSpc>
                <a:spcPts val="2724"/>
              </a:lnSpc>
            </a:pPr>
          </a:p>
          <a:p>
            <a:pPr algn="ctr" marL="0" indent="0" lvl="0">
              <a:lnSpc>
                <a:spcPts val="2724"/>
              </a:lnSpc>
              <a:spcBef>
                <a:spcPct val="0"/>
              </a:spcBef>
            </a:pPr>
            <a:r>
              <a:rPr lang="en-US" b="true" sz="1946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Cus</a:t>
            </a:r>
            <a:r>
              <a:rPr lang="en-US" b="true" sz="1946" u="non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tomer Responsibility</a:t>
            </a:r>
            <a:r>
              <a:rPr lang="en-US" sz="1946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  <a:p>
            <a:pPr algn="ctr" marL="0" indent="0" lvl="0">
              <a:lnSpc>
                <a:spcPts val="2724"/>
              </a:lnSpc>
              <a:spcBef>
                <a:spcPct val="0"/>
              </a:spcBef>
            </a:pPr>
          </a:p>
          <a:p>
            <a:pPr algn="ctr" marL="420198" indent="-210099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sz="1946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Enabling versioning</a:t>
            </a:r>
          </a:p>
          <a:p>
            <a:pPr algn="ctr" marL="420198" indent="-210099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sz="1946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Managing delete markers</a:t>
            </a:r>
          </a:p>
          <a:p>
            <a:pPr algn="ctr" marL="0" indent="0" lvl="0">
              <a:lnSpc>
                <a:spcPts val="2724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9125919"/>
            <a:ext cx="18288000" cy="1161081"/>
            <a:chOff x="0" y="0"/>
            <a:chExt cx="4816593" cy="3057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305799"/>
            </a:xfrm>
            <a:custGeom>
              <a:avLst/>
              <a:gdLst/>
              <a:ahLst/>
              <a:cxnLst/>
              <a:rect r="r" b="b" t="t" l="l"/>
              <a:pathLst>
                <a:path h="30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42674" y="4476114"/>
            <a:ext cx="316653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B44536"/>
                </a:solidFill>
                <a:latin typeface="Helios Bold"/>
                <a:ea typeface="Helios Bold"/>
                <a:cs typeface="Helios Bold"/>
                <a:sym typeface="Helios Bold"/>
              </a:rPr>
              <a:t>W</a:t>
            </a:r>
            <a:r>
              <a:rPr lang="en-US" b="true" sz="2599">
                <a:solidFill>
                  <a:srgbClr val="B44536"/>
                </a:solidFill>
                <a:latin typeface="Helios Bold"/>
                <a:ea typeface="Helios Bold"/>
                <a:cs typeface="Helios Bold"/>
                <a:sym typeface="Helios Bold"/>
              </a:rPr>
              <a:t>hat is Versioning?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31936" y="4247514"/>
            <a:ext cx="4670427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B44536"/>
                </a:solidFill>
                <a:latin typeface="Helios Bold"/>
                <a:ea typeface="Helios Bold"/>
                <a:cs typeface="Helios Bold"/>
                <a:sym typeface="Helios Bold"/>
              </a:rPr>
              <a:t>H</a:t>
            </a:r>
            <a:r>
              <a:rPr lang="en-US" b="true" sz="2599">
                <a:solidFill>
                  <a:srgbClr val="B44536"/>
                </a:solidFill>
                <a:latin typeface="Helios Bold"/>
                <a:ea typeface="Helios Bold"/>
                <a:cs typeface="Helios Bold"/>
                <a:sym typeface="Helios Bold"/>
              </a:rPr>
              <a:t>ow Versioning Helps in Disaster Recovery (DR)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79364" y="4056082"/>
            <a:ext cx="2995169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B44536"/>
                </a:solidFill>
                <a:latin typeface="Helios Bold"/>
                <a:ea typeface="Helios Bold"/>
                <a:cs typeface="Helios Bold"/>
                <a:sym typeface="Helios Bold"/>
              </a:rPr>
              <a:t>AWS and Customer Responsibility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5938" y="4056082"/>
            <a:ext cx="3758454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B44536"/>
                </a:solidFill>
                <a:latin typeface="Helios Bold"/>
                <a:ea typeface="Helios Bold"/>
                <a:cs typeface="Helios Bold"/>
                <a:sym typeface="Helios Bold"/>
              </a:rPr>
              <a:t>Difference Between Delete and Permanent Delete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3413">
            <a:off x="9283310" y="-2113117"/>
            <a:ext cx="13265113" cy="13265113"/>
          </a:xfrm>
          <a:custGeom>
            <a:avLst/>
            <a:gdLst/>
            <a:ahLst/>
            <a:cxnLst/>
            <a:rect r="r" b="b" t="t" l="l"/>
            <a:pathLst>
              <a:path h="13265113" w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67802" y="-695325"/>
            <a:ext cx="12417410" cy="11560608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4">
                <a:alphaModFix amt="90000"/>
              </a:blip>
              <a:stretch>
                <a:fillRect l="-19842" t="0" r="-19842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90346" y="4405139"/>
            <a:ext cx="9715721" cy="18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4"/>
              </a:lnSpc>
            </a:pPr>
            <a:r>
              <a:rPr lang="en-US" sz="11649" b="true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DAG-819ruhE</dc:identifier>
  <dcterms:modified xsi:type="dcterms:W3CDTF">2011-08-01T06:04:30Z</dcterms:modified>
  <cp:revision>1</cp:revision>
  <dc:title>1st Case: Disaster Recovery S3</dc:title>
</cp:coreProperties>
</file>